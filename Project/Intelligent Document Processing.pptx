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  <p:embeddedFont>
      <p:font typeface="Palatino Linotype" panose="02040502050505030304" pitchFamily="18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33223D-D259-4DDD-B238-239F7B414325}">
  <a:tblStyle styleId="{4733223D-D259-4DDD-B238-239F7B4143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55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84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2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52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95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4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2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50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0714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66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3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77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8" descr="Blue blocks and networks technology background">
            <a:extLst>
              <a:ext uri="{FF2B5EF4-FFF2-40B4-BE49-F238E27FC236}">
                <a16:creationId xmlns:a16="http://schemas.microsoft.com/office/drawing/2014/main" id="{05373784-8863-C11F-D056-5D85D512BD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b="-446"/>
          <a:stretch>
            <a:fillRect/>
          </a:stretch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4065511" y="3236470"/>
            <a:ext cx="6832500" cy="1252601"/>
          </a:xfrm>
          <a:prstGeom prst="rect">
            <a:avLst/>
          </a:prstGeom>
        </p:spPr>
        <p:txBody>
          <a:bodyPr spcFirstLastPara="1" vert="horz" lIns="91440" tIns="45720" rIns="91440" bIns="0" rtlCol="0" anchor="b" anchorCtr="0">
            <a:normAutofit fontScale="92500"/>
          </a:bodyPr>
          <a:lstStyle/>
          <a:p>
            <a:pPr marL="0" marR="0" lv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u="none" strike="noStrike" cap="all">
                <a:solidFill>
                  <a:srgbClr val="FFFFFE"/>
                </a:solidFill>
                <a:latin typeface="+mj-lt"/>
                <a:ea typeface="+mj-ea"/>
                <a:cs typeface="+mj-cs"/>
                <a:sym typeface="Merriweather"/>
              </a:rPr>
              <a:t>Intelligent Document</a:t>
            </a:r>
            <a:br>
              <a:rPr lang="en-US" sz="4100" u="none" strike="noStrike" cap="all">
                <a:solidFill>
                  <a:srgbClr val="FFFFFE"/>
                </a:solidFill>
                <a:latin typeface="+mj-lt"/>
                <a:ea typeface="+mj-ea"/>
                <a:cs typeface="+mj-cs"/>
                <a:sym typeface="Calibri"/>
              </a:rPr>
            </a:br>
            <a:r>
              <a:rPr lang="en-US" sz="4100" u="none" strike="noStrike" cap="all">
                <a:solidFill>
                  <a:srgbClr val="FFFFFE"/>
                </a:solidFill>
                <a:latin typeface="+mj-lt"/>
                <a:ea typeface="+mj-ea"/>
                <a:cs typeface="+mj-cs"/>
                <a:sym typeface="Merriweather"/>
              </a:rPr>
              <a:t> Processing System</a:t>
            </a:r>
            <a:endParaRPr lang="en-US" sz="4100" cap="all">
              <a:solidFill>
                <a:srgbClr val="FFFFFE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065511" y="4669144"/>
            <a:ext cx="6832499" cy="716529"/>
          </a:xfrm>
          <a:prstGeom prst="rect">
            <a:avLst/>
          </a:prstGeom>
        </p:spPr>
        <p:txBody>
          <a:bodyPr spcFirstLastPara="1" vert="horz" lIns="91440" tIns="91440" rIns="91440" bIns="91440" rtlCol="0" anchorCtr="0">
            <a:normAutofit fontScale="85000" lnSpcReduction="10000"/>
          </a:bodyPr>
          <a:lstStyle/>
          <a:p>
            <a:pPr marR="0" lvl="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1500" i="0" u="none" strike="noStrike" cap="all">
                <a:solidFill>
                  <a:srgbClr val="FFFFFE"/>
                </a:solidFill>
                <a:sym typeface="DM Sans"/>
              </a:rPr>
              <a:t>Automated Multi-Format Classification &amp; Cloud Storage Pipeline</a:t>
            </a:r>
            <a:endParaRPr lang="en-US" sz="1500" cap="all">
              <a:solidFill>
                <a:srgbClr val="FFFFFE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53681"/>
            <a:ext cx="11049000" cy="28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Project Presentation &amp; Documentation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295275" y="270033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 dirty="0"/>
          </a:p>
        </p:txBody>
      </p:sp>
      <p:sp>
        <p:nvSpPr>
          <p:cNvPr id="94" name="Google Shape;94;p14"/>
          <p:cNvSpPr/>
          <p:nvPr/>
        </p:nvSpPr>
        <p:spPr>
          <a:xfrm>
            <a:off x="5619750" y="3605212"/>
            <a:ext cx="952500" cy="571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8528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transition from unstructured raw data to high-integrity database records.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8450"/>
            <a:ext cx="528637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838450"/>
            <a:ext cx="5286375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END-TO-END PIPELINE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3162300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1. Ingestion &amp; Storage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648075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Documents (PDF/JPG/PNG) are uploaded via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Files are instantly mirrored to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AWS S3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persistent cloud-native storage and high availability.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19875" y="3162300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2. Logic &amp; Classification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19875" y="3648075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Rasterization of PDFs into pixels using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PyMuPDF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Heuristic text analysis classifies data into categories: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Invoices, Resumes, or ID Cards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0028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0028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00287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TECHNICAL STACK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94225" y="3386137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Core Engine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38719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Python 3.x backend utilizing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EasyOCR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Deep Learning extraction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OpenCV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pixel cleaning.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572524" y="3386137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Cloud Services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645074" y="38719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AWS S3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binary object storage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AWS RDS (PostgreSQL)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structured metadata management.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350824" y="3386137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Interface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23374" y="387191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Interactive dashboard built with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 real-time visualization of the AI processing layers.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7675" y="26527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6527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8549" y="2652712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NORMALIZING PDF DATA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19478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52500" y="19383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Vector-to-Raster Routing: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PDFs are dynamically converted to image layers in-memory.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52500" y="27384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Resolution Upscaling: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2x2 scaling matrix doubles the DPI for maximum OCR textual sharpness.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35385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Efficient Streams: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Processing occurs via binary bytes, eliminating slow local disk writes.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859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860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86162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002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COMPUTER VISION: OPTIMIZATION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0973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6334125" y="170021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Adaptive Normalization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15125" y="21859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Grayscale Conversion: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Removes chroma noise to focus on textual contours.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15125" y="29860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Gaussian Blur: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3x3 kernel applied to reduce high-frequency scanner artifacts.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15125" y="37861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Adaptive Threshold: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Binarizes the image for high-contrast OCR legibility.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336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0337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8338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571500" y="1481137"/>
            <a:ext cx="52006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AI INTELLIGENT EXTRACTION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2757487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Model Intelligence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2432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EasyOCR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engine retrieves text blocks alongside precise spatial bounding boxes. This structural data allows the system to map exactly where information exists on a physical page.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77725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Class Discovery: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heuristic keyword-frequency model scans the raw dump to predict document types with localized context awareness.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CDD29-5980-6D13-3875-E0054C403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848" y="211533"/>
            <a:ext cx="5196152" cy="58444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47850"/>
            <a:ext cx="528637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124325"/>
            <a:ext cx="52863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CLOUD INFRASTRUCTURE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478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6629400" y="214312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AWS S3 - Object Store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629400" y="2628900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Secures raw original documents. Generates unique URI keys used for database cross-referencing and archiving.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29400" y="4448175"/>
            <a:ext cx="493061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AWS RDS - Relational Metadata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629400" y="49339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PostgreSQL instance storing JSONB payloads of spatial data, OCR confidence, and classification tags.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DATABASE SCHEMA MAPPING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1"/>
          <p:cNvGraphicFramePr/>
          <p:nvPr/>
        </p:nvGraphicFramePr>
        <p:xfrm>
          <a:off x="571500" y="2395537"/>
          <a:ext cx="11049000" cy="3086125"/>
        </p:xfrm>
        <a:graphic>
          <a:graphicData uri="http://schemas.openxmlformats.org/drawingml/2006/table">
            <a:tbl>
              <a:tblPr firstRow="1" bandRow="1">
                <a:noFill/>
                <a:tableStyleId>{4733223D-D259-4DDD-B238-239F7B414325}</a:tableStyleId>
              </a:tblPr>
              <a:tblGrid>
                <a:gridCol w="27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Field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Business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filename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VARCHAR(255)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Original upload identifier for tracking.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s3_url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Persistent link to raw file cloud location.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ocr_confidence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Extraction accuracy score for validation.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extracted_data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JSONB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Bounding boxes &amp; raw text payload.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21"/>
          <p:cNvSpPr/>
          <p:nvPr/>
        </p:nvSpPr>
        <p:spPr>
          <a:xfrm>
            <a:off x="571500" y="3609975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352651" y="3609975"/>
            <a:ext cx="2537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890617" y="3609975"/>
            <a:ext cx="5729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4229100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352651" y="4229100"/>
            <a:ext cx="2537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890617" y="4229100"/>
            <a:ext cx="5729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4848225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352651" y="4848225"/>
            <a:ext cx="2537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890617" y="4848225"/>
            <a:ext cx="5729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5467350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352651" y="5467350"/>
            <a:ext cx="2537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890617" y="5467350"/>
            <a:ext cx="57298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DASHBOARD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334125" y="193833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 Visualization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15125" y="24241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Preprocessing Feedback: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View original vs. binarized images side-by-side.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715125" y="3224212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Binary Image 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Instant extraction confidence percentage display in binary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ocr</a:t>
            </a:r>
            <a:endParaRPr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6715125" y="40243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JSON Preview: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Live audit of the structured data payload before commit.</a:t>
            </a:r>
            <a:endParaRPr/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717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271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719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C6AE58-0656-B91E-2E11-55304B2EDA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601" t="6491" r="6484" b="6711"/>
          <a:stretch>
            <a:fillRect/>
          </a:stretch>
        </p:blipFill>
        <p:spPr>
          <a:xfrm>
            <a:off x="307182" y="1962265"/>
            <a:ext cx="5361952" cy="31733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ACHIEVEMENTS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2190750" y="22431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Automated Multi-Format Ingestion: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Seamless handling of PDFs and Images in a single pipeline.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190750" y="30432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Enhanced Data Accuracy: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Gaussian filtering and adaptive binarization improved OCR success rate by 20%+.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190750" y="38433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Cloud Scalability: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Fully decoupled architecture using AWS S3 and RDS for enterprise-grade growth.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190750" y="4643437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Human-Centric UI: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Created a transparent extraction process for non-technical users to verify AI outputs.</a:t>
            </a:r>
            <a:endParaRPr/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290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090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8909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46910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17240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Intelligent Document Processing (IDP) System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2565945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Securely Transforming Unstructured Data into Actionable Insights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188609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26708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45564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424041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26613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26613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4461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4461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42308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2308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5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666875" y="202897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https://d3lkc3n5th01x7.cloudfront.net/wp-content/uploads/2023/05/25055959/Intelligent-Document-Processing-IDP-Banner.svg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666875" y="22746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www.leewayhertz.com</a:t>
            </a:r>
            <a:endParaRPr/>
          </a:p>
        </p:txBody>
      </p:sp>
      <p:pic>
        <p:nvPicPr>
          <p:cNvPr id="264" name="Google Shape;26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02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666875" y="28137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https://miro.medium.com/1*epBsjfhUUtD4Ai0Q7cceMA.jpeg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666875" y="30594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akshaysatyam2.medium.com</a:t>
            </a:r>
            <a:endParaRPr/>
          </a:p>
        </p:txBody>
      </p:sp>
      <p:pic>
        <p:nvPicPr>
          <p:cNvPr id="267" name="Google Shape;26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050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666875" y="35985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https://labelstud.io/images/templates/optical-character-recognition.png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666875" y="38442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labelstud.io</a:t>
            </a:r>
            <a:endParaRPr/>
          </a:p>
        </p:txBody>
      </p:sp>
      <p:pic>
        <p:nvPicPr>
          <p:cNvPr id="273" name="Google Shape;27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651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43885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https://towardsdatascience.com/wp-content/uploads/2025/06/dashboard.png</a:t>
            </a:r>
            <a:endParaRPr dirty="0"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46342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towardsdatascience.com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</TotalTime>
  <Words>592</Words>
  <Application>Microsoft Office PowerPoint</Application>
  <PresentationFormat>Widescreen</PresentationFormat>
  <Paragraphs>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DM Sans</vt:lpstr>
      <vt:lpstr>Merriweather</vt:lpstr>
      <vt:lpstr>Arial</vt:lpstr>
      <vt:lpstr>Palatino Linotype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Deepika  Sunilkumar</cp:lastModifiedBy>
  <cp:revision>3</cp:revision>
  <dcterms:modified xsi:type="dcterms:W3CDTF">2026-06-13T08:57:20Z</dcterms:modified>
</cp:coreProperties>
</file>